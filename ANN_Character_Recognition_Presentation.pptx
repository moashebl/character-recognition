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371600"/>
            <a:ext cx="22860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Handwritten Character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87AF5"/>
                </a:solidFill>
                <a:latin typeface="Segoe UI"/>
              </a:defRPr>
            </a:pPr>
            <a:r>
              <a:t>Using a From-Scratch NumPy Multi-Layer Perceptron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4572000" cy="381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Segoe UI"/>
              </a:defRPr>
            </a:pPr>
            <a:r>
              <a:t>Mohamed Alaa Shebl Mohamed  |  230504583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Artificial Neural Networks — Istanbul Atlas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April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Problem Statement &amp;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87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9D8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Segoe UI"/>
              </a:defRPr>
            </a:pPr>
            <a:r>
              <a:t>Automatically classify handwritten English letters A–Z from grayscale images using an Artificial Neural Network built entirely from scratch with NumPy — no TensorFlow or PyTorch.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0292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9D8F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Build a complete MLP with backpropagation from scratch</a:t>
            </a:r>
          </a:p>
          <a:p>
            <a:pPr>
              <a:spcAft>
                <a:spcPts val="20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Train and evaluate on 762K+ handwritten character images</a:t>
            </a:r>
          </a:p>
          <a:p>
            <a:pPr>
              <a:spcAft>
                <a:spcPts val="20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Provide an interactive GUI for training and prediction</a:t>
            </a:r>
          </a:p>
          <a:p>
            <a:pPr>
              <a:spcAft>
                <a:spcPts val="20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Demonstrate ANN concepts with logic gate examples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5303520" cy="5212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9D8F"/>
                </a:solidFill>
                <a:latin typeface="Segoe UI"/>
              </a:defRPr>
            </a:pPr>
            <a:r>
              <a:t>PROJECT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Multi-class classification (26 classes: A–Z)</a:t>
            </a:r>
          </a:p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From-scratch NumPy implementation (no ML libraries)</a:t>
            </a:r>
          </a:p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MLP architecture: 784 → 256 → 128 → 26</a:t>
            </a:r>
          </a:p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ReLU hidden activation + Softmax output</a:t>
            </a:r>
          </a:p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Cross-entropy loss + mini-batch gradient descent</a:t>
            </a:r>
          </a:p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Tkinter GUI with live training visualization</a:t>
            </a:r>
          </a:p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Logic gate demonstrations (AND, OR, XOR)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Project Pipeline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87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0116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7AF5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Dataset</a:t>
            </a:r>
            <a:br/>
            <a:r>
              <a:t>(.npz)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762K grayscale</a:t>
            </a:r>
            <a:br/>
            <a:r>
              <a:t>images, 28×28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A9D8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463040"/>
            <a:ext cx="20116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600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7AF5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0116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Normalize, flatten,</a:t>
            </a:r>
            <a:br/>
            <a:r>
              <a:t>label remapping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A9D8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463040"/>
            <a:ext cx="20116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600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7AF5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0116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MLP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Forward + Backprop</a:t>
            </a:r>
            <a:br/>
            <a:r>
              <a:t>mini-batch SGD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A9D8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463040"/>
            <a:ext cx="20116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600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7AF5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0116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Accuracy, loss,</a:t>
            </a:r>
            <a:br/>
            <a:r>
              <a:t>confusion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A9D8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463040"/>
            <a:ext cx="20116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1600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7AF5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0116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GUI</a:t>
            </a:r>
            <a:br/>
            <a:r>
              <a:t>Prediction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Draw or upload</a:t>
            </a:r>
            <a:br/>
            <a:r>
              <a:t>image to classify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9D8F"/>
                </a:solidFill>
                <a:latin typeface="Segoe UI"/>
              </a:defRPr>
            </a:pPr>
            <a:r>
              <a:t>KEY PROJECT FILES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7AF5"/>
                </a:solidFill>
                <a:latin typeface="Consolas"/>
              </a:defRPr>
            </a:pPr>
            <a:r>
              <a:t>src/ann/mlp.py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Core MLP neural network implementation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7AF5"/>
                </a:solidFill>
                <a:latin typeface="Consolas"/>
              </a:defRPr>
            </a:pPr>
            <a:r>
              <a:t>src/ann/data.py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Dataset loading, preprocessing, train/test split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7AF5"/>
                </a:solidFill>
                <a:latin typeface="Consolas"/>
              </a:defRPr>
            </a:pPr>
            <a:r>
              <a:t>src/ann/utils.py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One-hot encoding, metrics, confusion matrix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852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7AF5"/>
                </a:solidFill>
                <a:latin typeface="Consolas"/>
              </a:defRPr>
            </a:pPr>
            <a:r>
              <a:t>train_mlp.py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Command-line training and 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7AF5"/>
                </a:solidFill>
                <a:latin typeface="Consolas"/>
              </a:defRPr>
            </a:pPr>
            <a:r>
              <a:t>gui_app.py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Interactive Tkinter GUI application</a:t>
            </a:r>
          </a:p>
        </p:txBody>
      </p:sp>
      <p:pic>
        <p:nvPicPr>
          <p:cNvPr id="39" name="Picture 38" descr="neural_network_trainin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389120"/>
            <a:ext cx="4754880" cy="13230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87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3774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508760"/>
            <a:ext cx="1828800" cy="38100"/>
          </a:xfrm>
          <a:prstGeom prst="rect">
            <a:avLst/>
          </a:prstGeom>
          <a:solidFill>
            <a:srgbClr val="387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762,213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Total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3774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1508760"/>
            <a:ext cx="18288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45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28 × 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Image Size (px)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371600"/>
            <a:ext cx="23774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1828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45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Classes (A–Z)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371600"/>
            <a:ext cx="23774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508760"/>
            <a:ext cx="1828800" cy="38100"/>
          </a:xfrm>
          <a:prstGeom prst="rect">
            <a:avLst/>
          </a:prstGeom>
          <a:solidFill>
            <a:srgbClr val="387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645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Grayscale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Color Mode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00400"/>
            <a:ext cx="50292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9D8F"/>
                </a:solidFill>
                <a:latin typeface="Segoe UI"/>
              </a:defRPr>
            </a:pPr>
            <a:r>
              <a:t>DATASET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65760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Source: Kaggle Alphabet Characters Fonts Dataset</a:t>
            </a:r>
          </a:p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Includes handwritten character samples</a:t>
            </a:r>
          </a:p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Stored as NumPy .npz format (images + labels)</a:t>
            </a:r>
          </a:p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Class imbalance: min 16,109 — max 72,816 per class</a:t>
            </a:r>
          </a:p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Stratified split preserves class proportions</a:t>
            </a:r>
          </a:p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Split: 80% train / 20% test (seed=42)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200400"/>
            <a:ext cx="53035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291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9D8F"/>
                </a:solidFill>
                <a:latin typeface="Segoe UI"/>
              </a:defRPr>
            </a:pPr>
            <a:r>
              <a:t>PREPROCESSING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Resize to 28×28 (bilinear interpolation)</a:t>
            </a:r>
          </a:p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Normalize pixels: [0, 255] → [0.0, 1.0]</a:t>
            </a:r>
          </a:p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Flatten: 28×28 → 784-element vector</a:t>
            </a:r>
          </a:p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Remap labels to contiguous 0–25</a:t>
            </a:r>
          </a:p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GUI: auto-crop, center, autocontrast</a:t>
            </a:r>
          </a:p>
          <a:p>
            <a:pPr>
              <a:spcAft>
                <a:spcPts val="18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GUI: dual polarity (normal + inverted)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MLP Architecture &amp;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87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37744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7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F5"/>
                </a:solidFill>
                <a:latin typeface="Segoe UI"/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784 neurons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28×28 pixels</a:t>
            </a:r>
            <a:br/>
            <a:r>
              <a:t>flattened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9D8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371600"/>
            <a:ext cx="237744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7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F5"/>
                </a:solidFill>
                <a:latin typeface="Segoe UI"/>
              </a:defRPr>
            </a:pPr>
            <a:r>
              <a:t>Hidden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256 neurons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ReLU</a:t>
            </a:r>
            <a:br/>
            <a:r>
              <a:t>activation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9D8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237744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7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F5"/>
                </a:solidFill>
                <a:latin typeface="Segoe UI"/>
              </a:defRPr>
            </a:pPr>
            <a:r>
              <a:t>Hidden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128 neurons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ReLU</a:t>
            </a:r>
            <a:br/>
            <a:r>
              <a:t>activation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9D8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371600"/>
            <a:ext cx="237744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26 neurons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Softmax</a:t>
            </a:r>
            <a:br/>
            <a:r>
              <a:t>(A–Z classes)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49039"/>
            <a:ext cx="50292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9D8F"/>
                </a:solidFill>
                <a:latin typeface="Segoe UI"/>
              </a:defRPr>
            </a:pPr>
            <a:r>
              <a:t>KEY EQUATIONS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2062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Forward:  z = a·W + b,  a = ReLU(z)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Softmax:  P(class_i) = e^(z_i) / Σ e^(z_j)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Loss:  L = -(1/m) Σ y·log(ŷ)  (cross-entropy)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Backprop:  δ = ŷ - y  (output layer)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Update:   W := W - η · ∇W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749039"/>
            <a:ext cx="53035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9D8F"/>
                </a:solidFill>
                <a:latin typeface="Segoe UI"/>
              </a:defRPr>
            </a:pPr>
            <a:r>
              <a:t>PARAMETER 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Layer 1 (784→256)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387AF5"/>
                </a:solidFill>
                <a:latin typeface="Segoe UI"/>
              </a:defRPr>
            </a:pPr>
            <a:r>
              <a:t>200,960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Layer 2 (256→128)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800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387AF5"/>
                </a:solidFill>
                <a:latin typeface="Segoe UI"/>
              </a:defRPr>
            </a:pPr>
            <a:r>
              <a:t>32,896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Layer 3 (128→26)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387AF5"/>
                </a:solidFill>
                <a:latin typeface="Segoe UI"/>
              </a:defRPr>
            </a:pPr>
            <a:r>
              <a:t>3,354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806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Total Parameters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5806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387AF5"/>
                </a:solidFill>
                <a:latin typeface="Segoe UI"/>
              </a:defRPr>
            </a:pPr>
            <a:r>
              <a:t>237,210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Training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87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5212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9D8F"/>
                </a:solidFill>
                <a:latin typeface="Segoe UI"/>
              </a:defRPr>
            </a:pPr>
            <a:r>
              <a:t>HYPERPARAMETERS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83080"/>
            <a:ext cx="4572000" cy="365760"/>
          </a:xfrm>
          <a:prstGeom prst="round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Learning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0.01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94560"/>
            <a:ext cx="4572000" cy="365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Batch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606040"/>
            <a:ext cx="4572000" cy="365760"/>
          </a:xfrm>
          <a:prstGeom prst="round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606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Max Epochs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017520"/>
            <a:ext cx="4572000" cy="365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17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Early Stopping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Patience =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429000"/>
            <a:ext cx="4572000" cy="365760"/>
          </a:xfrm>
          <a:prstGeom prst="round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Validation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429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10% of training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840480"/>
            <a:ext cx="4572000" cy="365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Test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840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20% of full dataset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251960"/>
            <a:ext cx="4572000" cy="365760"/>
          </a:xfrm>
          <a:prstGeom prst="round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Activation (Hidden)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251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ReLU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663440"/>
            <a:ext cx="4572000" cy="365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Activation (Output)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Softmax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074920"/>
            <a:ext cx="4572000" cy="365760"/>
          </a:xfrm>
          <a:prstGeom prst="round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074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Initialization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074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He (ReLU) / Xavier (Sigmoid)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486400"/>
            <a:ext cx="4572000" cy="365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486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Optimizer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Mini-batch Gradient Descent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897880"/>
            <a:ext cx="4572000" cy="365760"/>
          </a:xfrm>
          <a:prstGeom prst="roundRect">
            <a:avLst/>
          </a:prstGeom>
          <a:solidFill>
            <a:srgbClr val="15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897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Random Seed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5897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1280160"/>
            <a:ext cx="5303520" cy="5212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9D8F"/>
                </a:solidFill>
                <a:latin typeface="Segoe UI"/>
              </a:defRPr>
            </a:pPr>
            <a:r>
              <a:t>TRAINING FEATURES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Mini-batch processing for memory efficiency</a:t>
            </a:r>
          </a:p>
          <a:p>
            <a:pPr>
              <a:spcAft>
                <a:spcPts val="22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Data shuffling each epoch to prevent ordering bias</a:t>
            </a:r>
          </a:p>
          <a:p>
            <a:pPr>
              <a:spcAft>
                <a:spcPts val="22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Epoch-level loss/accuracy tracking</a:t>
            </a:r>
          </a:p>
          <a:p>
            <a:pPr>
              <a:spcAft>
                <a:spcPts val="22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Validation monitoring after each epoch</a:t>
            </a:r>
          </a:p>
          <a:p>
            <a:pPr>
              <a:spcAft>
                <a:spcPts val="22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Early stopping with best-weights restoration</a:t>
            </a:r>
          </a:p>
          <a:p>
            <a:pPr>
              <a:spcAft>
                <a:spcPts val="22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Reproducible splits with fixed random seeds</a:t>
            </a:r>
          </a:p>
          <a:p>
            <a:pPr>
              <a:spcAft>
                <a:spcPts val="22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Epoch callbacks for GUI live updates</a:t>
            </a:r>
          </a:p>
          <a:p>
            <a:pPr>
              <a:spcAft>
                <a:spcPts val="22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Background thread training (GUI stays responsive)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Results &amp;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87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3774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417320"/>
            <a:ext cx="18288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78.15%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Test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80160"/>
            <a:ext cx="23774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1417320"/>
            <a:ext cx="1828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0.8996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Test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280160"/>
            <a:ext cx="23774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1828800" cy="38100"/>
          </a:xfrm>
          <a:prstGeom prst="rect">
            <a:avLst/>
          </a:prstGeom>
          <a:solidFill>
            <a:srgbClr val="387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152,452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Test Samples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280160"/>
            <a:ext cx="23774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417320"/>
            <a:ext cx="18288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554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237,210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Parameters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9D8F"/>
                </a:solidFill>
                <a:latin typeface="Segoe UI"/>
              </a:defRPr>
            </a:pPr>
            <a:r>
              <a:t>TRAINING CURVES</a:t>
            </a:r>
          </a:p>
        </p:txBody>
      </p:sp>
      <p:pic>
        <p:nvPicPr>
          <p:cNvPr id="21" name="Picture 20" descr="mlp_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83280"/>
            <a:ext cx="54864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Confusion Matrix &amp; Error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87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p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657850" cy="5029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280160"/>
            <a:ext cx="5303520" cy="5212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9D8F"/>
                </a:solidFill>
                <a:latin typeface="Segoe UI"/>
              </a:defRPr>
            </a:pPr>
            <a:r>
              <a:t>TOP CONFUSIONS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onsolas"/>
              </a:defRPr>
            </a:pPr>
            <a:r>
              <a:t>D → 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828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Similar round shapes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onsolas"/>
              </a:defRPr>
            </a:pPr>
            <a:r>
              <a:t>Y → 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423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Similar angular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onsolas"/>
              </a:defRPr>
            </a:pPr>
            <a:r>
              <a:t>F → 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017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Similar top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611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onsolas"/>
              </a:defRPr>
            </a:pPr>
            <a:r>
              <a:t>I → 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6118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611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Similar vertical strokes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onsolas"/>
              </a:defRPr>
            </a:pPr>
            <a:r>
              <a:t>Q → 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Q without tail = 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800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onsolas"/>
              </a:defRPr>
            </a:pPr>
            <a:r>
              <a:t>H → 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8006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Similar stroke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394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onsolas"/>
              </a:defRPr>
            </a:pPr>
            <a:r>
              <a:t>E →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394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Segoe UI"/>
              </a:defRPr>
            </a:pPr>
            <a:r>
              <a:t>Similar curved shape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Visually similar letters are the primary source of errors.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Bonus: Logic Gate Demonstrations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87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AND Gate</a:t>
            </a:r>
          </a:p>
        </p:txBody>
      </p:sp>
      <p:pic>
        <p:nvPicPr>
          <p:cNvPr id="5" name="Picture 4" descr="logic_gate_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3474720" cy="1494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120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A9D8F"/>
                </a:solidFill>
                <a:latin typeface="Segoe UI"/>
              </a:defRPr>
            </a:pPr>
            <a:r>
              <a:t>Linearly Separable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OR Gate</a:t>
            </a:r>
          </a:p>
        </p:txBody>
      </p:sp>
      <p:pic>
        <p:nvPicPr>
          <p:cNvPr id="8" name="Picture 7" descr="logic_gate_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45920"/>
            <a:ext cx="3474720" cy="14941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0" y="5120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A9D8F"/>
                </a:solidFill>
                <a:latin typeface="Segoe UI"/>
              </a:defRPr>
            </a:pPr>
            <a:r>
              <a:t>Linearly Separable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XOR Gate</a:t>
            </a:r>
          </a:p>
        </p:txBody>
      </p:sp>
      <p:pic>
        <p:nvPicPr>
          <p:cNvPr id="11" name="Picture 10" descr="logic_gate_x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645920"/>
            <a:ext cx="3474720" cy="14941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5120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97316"/>
                </a:solidFill>
                <a:latin typeface="Segoe UI"/>
              </a:defRPr>
            </a:pPr>
            <a:r>
              <a:t>NOT Linearly Separable 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EC0"/>
                </a:solidFill>
                <a:latin typeface="Segoe UI"/>
              </a:defRPr>
            </a:pPr>
            <a:r>
              <a:t>XOR demonstrates why hidden layers are essential — a single-layer perceptron cannot solve non-linearly separable problems.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Interactive GUI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87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9D8F"/>
                </a:solidFill>
                <a:latin typeface="Segoe UI"/>
              </a:defRPr>
            </a:pPr>
            <a:r>
              <a:t>GUI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Browse and select any .npz dataset file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Configure all hyperparameters from the interface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Train model with live loss/accuracy curve updates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Drawing canvas (320×320) with adjustable brush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Upload external images for classification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Predicted class with confidence percentage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Top-k predictions displayed in table format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Probability bar chart visualization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Background thread training (GUI stays responsive)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Model save/load functionality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9D8F"/>
                </a:solidFill>
                <a:latin typeface="Segoe UI"/>
              </a:defRPr>
            </a:pPr>
            <a:r>
              <a:t>TECHNICAL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Built with Python Tkinter + Matplotlib embedding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Thread-safe queue-based event system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Worker thread for training, main thread for UI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Event polling via Tkinter after() every 80ms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PIL-based image preprocessing pipeline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Auto-detects dark/light background polarity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Dual prediction: tries normal + inverted input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Graceful error handling with user-friendly messages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Status log with automatic line trimming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Proper cleanup on window close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GUI Screenshots — Application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87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1143000"/>
            <a:ext cx="5852160" cy="2697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7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ui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33542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3831336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5"/>
                </a:solidFill>
                <a:latin typeface="Segoe UI"/>
              </a:defRPr>
            </a:pPr>
            <a:r>
              <a:t>Main Window — Draw &amp; Predict Tab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852160" cy="2697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ui_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5760720" cy="33542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3831336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A9D8F"/>
                </a:solidFill>
                <a:latin typeface="Segoe UI"/>
              </a:defRPr>
            </a:pPr>
            <a:r>
              <a:t>After Prediction — Letter 'A' Drawn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3931919"/>
            <a:ext cx="5852160" cy="2697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ui_training_metr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977639"/>
            <a:ext cx="5760720" cy="3354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620255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97316"/>
                </a:solidFill>
                <a:latin typeface="Segoe UI"/>
              </a:defRPr>
            </a:pPr>
            <a:r>
              <a:t>Training Metrics — Live Loss/Accuracy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19"/>
            <a:ext cx="5852160" cy="2697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ui_proba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977639"/>
            <a:ext cx="5760720" cy="335427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6620255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A9D8F"/>
                </a:solidFill>
                <a:latin typeface="Segoe UI"/>
              </a:defRPr>
            </a:pPr>
            <a:r>
              <a:t>Probability View — Top Class Chart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87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Segoe UI"/>
              </a:defRPr>
            </a:pPr>
            <a:r>
              <a:t>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F97316"/>
              </a:buClr>
            </a:pPr>
            <a:r>
              <a:t>MLP on raw pixels — no spatial feature extraction</a:t>
            </a:r>
          </a:p>
          <a:p>
            <a:pPr>
              <a:spcAft>
                <a:spcPts val="24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F97316"/>
              </a:buClr>
            </a:pPr>
            <a:r>
              <a:t>CNNs significantly outperform MLPs on image tasks</a:t>
            </a:r>
          </a:p>
          <a:p>
            <a:pPr>
              <a:spcAft>
                <a:spcPts val="24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F97316"/>
              </a:buClr>
            </a:pPr>
            <a:r>
              <a:t>Class imbalance biases predictions toward common classes</a:t>
            </a:r>
          </a:p>
          <a:p>
            <a:pPr>
              <a:spcAft>
                <a:spcPts val="24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F97316"/>
              </a:buClr>
            </a:pPr>
            <a:r>
              <a:t>No data augmentation (rotation, shift, noise)</a:t>
            </a:r>
          </a:p>
          <a:p>
            <a:pPr>
              <a:spcAft>
                <a:spcPts val="24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F97316"/>
              </a:buClr>
            </a:pPr>
            <a:r>
              <a:t>Fixed learning rate throughout training</a:t>
            </a:r>
          </a:p>
          <a:p>
            <a:pPr>
              <a:spcAft>
                <a:spcPts val="24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F97316"/>
              </a:buClr>
            </a:pPr>
            <a:r>
              <a:t>No regularization (dropout, L2 penalty)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9D8F"/>
                </a:solidFill>
                <a:latin typeface="Segoe UI"/>
              </a:defRPr>
            </a:pPr>
            <a:r>
              <a:t>FUTURE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Upgrade to CNN architecture for spatial features</a:t>
            </a:r>
          </a:p>
          <a:p>
            <a:pPr>
              <a:spcAft>
                <a:spcPts val="24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Add data augmentation pipeline (rotations, shifts)</a:t>
            </a:r>
          </a:p>
          <a:p>
            <a:pPr>
              <a:spcAft>
                <a:spcPts val="24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Apply class weighting or focal loss for imbalance</a:t>
            </a:r>
          </a:p>
          <a:p>
            <a:pPr>
              <a:spcAft>
                <a:spcPts val="24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Implement learning rate scheduling / Adam optimizer</a:t>
            </a:r>
          </a:p>
          <a:p>
            <a:pPr>
              <a:spcAft>
                <a:spcPts val="24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Add dropout and L2 regularization</a:t>
            </a:r>
          </a:p>
          <a:p>
            <a:pPr>
              <a:spcAft>
                <a:spcPts val="2400"/>
              </a:spcAft>
              <a:defRPr sz="1400">
                <a:solidFill>
                  <a:srgbClr val="A0AEC0"/>
                </a:solidFill>
                <a:latin typeface="Segoe UI"/>
              </a:defRPr>
              <a:buChar char="●"/>
              <a:buClr>
                <a:srgbClr val="2A9D8F"/>
              </a:buClr>
            </a:pPr>
            <a:r>
              <a:t>Extend to lowercase letters, digits, and symbols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387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2286000" cy="38100"/>
          </a:xfrm>
          <a:prstGeom prst="rect">
            <a:avLst/>
          </a:prstGeom>
          <a:solidFill>
            <a:srgbClr val="387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From-Scratch ANN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Complete MLP implementation using only NumPy —</a:t>
            </a:r>
            <a:br/>
            <a:r>
              <a:t>forward pass, backpropagation, softmax, cross-entropy, mini-batch SGD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2120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554480"/>
            <a:ext cx="22860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78.15%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Trained on 762K images and evaluated on 152K test samples</a:t>
            </a:r>
            <a:br/>
            <a:r>
              <a:t>with reproducible stratified splits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4023360"/>
            <a:ext cx="22860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Interactive GUI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Full Tkinter application with live training plots,</a:t>
            </a:r>
            <a:br/>
            <a:r>
              <a:t>drawing canvas, image upload, and probability visualization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80"/>
            <a:ext cx="52120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4023360"/>
            <a:ext cx="2286000" cy="38100"/>
          </a:xfrm>
          <a:prstGeom prst="rect">
            <a:avLst/>
          </a:prstGeom>
          <a:solidFill>
            <a:srgbClr val="387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ANN Concepts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754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Logic gate examples (AND, OR, XOR) illustrate</a:t>
            </a:r>
            <a:br/>
            <a:r>
              <a:t>linear separability and the need for hidden layers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A9D8F"/>
                </a:solidFill>
                <a:latin typeface="Segoe UI"/>
              </a:defRPr>
            </a:pPr>
            <a:r>
              <a:t>This project demonstrates a strong understanding of ANN fundamentals through a complete, functional, and well-documented implementation.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1828800"/>
            <a:ext cx="393192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87AF5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03120" cy="381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Segoe UI"/>
              </a:defRPr>
            </a:pPr>
            <a:r>
              <a:t>Mohamed Alaa Shebl Mohamed  |  230504583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Artificial Neural Networks — Istanbul Atlas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